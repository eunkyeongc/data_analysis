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19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 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김동욱 김수환 홍은경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08. 04.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12_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빅데이터분석모델링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1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1"/>
            <a:ext cx="11564992" cy="2225951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모델링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2001010513_21v1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40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34074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· 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타자의 경기 기록을 이용한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예측 머신러닝 회귀 모델 개발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KBO 타자 기록 데이터셋 기반 분석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937760"/>
            <a:ext cx="75895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0749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</a:t>
            </a: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55321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김동욱</a:t>
            </a:r>
            <a:r>
              <a:rPr lang="en-US" altLang="ko-KR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김수환</a:t>
            </a:r>
            <a:r>
              <a:rPr lang="en-US" altLang="ko-KR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홍은경</a:t>
            </a: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9436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제출일  </a:t>
            </a: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2026. 08. 04.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OPS를 예측해야 하는가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OPS(출루율+장타율)는 타자의 공격력을 종합 평가하는 대표 지표다. 그러나 경기 전에는 OPS를 알 수 없다 — OPS는 경기 결과를 집계해야 계산되는 사후 지표이기 때문이다.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4114800"/>
            <a:ext cx="4754880" cy="0"/>
          </a:xfrm>
          <a:prstGeom prst="line">
            <a:avLst/>
          </a:prstGeom>
          <a:noFill/>
          <a:ln w="12700">
            <a:solidFill>
              <a:srgbClr val="1340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97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선수의 기본 타격 기록(안타, 볼넷, 홈런 등)만으로 OPS를 사전에 예측할 수 있는 머신러닝 모델이 필요하다.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42316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724912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타자의 기본 타격 기록을 활용해 OPS를 예측하는 회귀 모델을 구축한다.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359359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0" y="3895344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기록이 OPS에 가장 큰 영향을 미치는지 변수 중요도를 분석한다.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4764024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32320" y="5065776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선형회귀와 Random Forest의 예측 성능을 비교하여 적합한 모델을 판단한다.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가설 및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가설: H0 vs H1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8DA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  H0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타자의 기본 </a:t>
            </a:r>
            <a:r>
              <a:rPr lang="en-US" sz="1800" dirty="0" err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기록은</a:t>
            </a:r>
            <a:r>
              <a:rPr lang="en-US" sz="180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800" dirty="0" err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OPS예측에</a:t>
            </a:r>
            <a:r>
              <a:rPr lang="en-US" sz="180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유의한 영향을 미치지 않는다.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독립변수와 OPS 사이에 통계적으로 유의한 관계가 없다는 기본 가정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대립가설  H1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타자의 기본 기록은 OPS 예측에 유의한 영향을 미친다.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연구가 실제로 검증하고자 하는 주장 — 채택 시 모델의 예측·해석이 유의미해짐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572E">
              <a:alpha val="10000"/>
            </a:srgbClr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4681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방법  </a:t>
            </a: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OLS 회귀분석의 F-검정(모델 전체 유의성) 및 각 변수별 t-검정(개별 유의성)으로 p-value &lt; 0.05 기준 판정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가설 및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변수 정의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 (Y)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 (On-base Plus Slugging = 출루율 + 장타율)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(X) — 11개 기본 타격 기록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타석 (PA)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타수 (AB)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안타 (H)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15400" y="32004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3200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2루타 (2B)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3루타 (3B)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33756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홈런 (HR)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볼넷 (BB)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915400" y="39044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9044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삼진 (SO)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60857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085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도루 (SB)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337560" y="460857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6085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타점 (RBI)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26480" y="460857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6085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득점 (R)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4572E">
              <a:alpha val="12000"/>
            </a:srgbClr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변수  </a:t>
            </a: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출루율(OBP), 장타율(SLG) — OPS 계산식에 직접 사용되는 변수이므로 데이터 누수 방지를 위해 제외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가설 및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누수(Data Leakage) 점검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계산에 사용되는 지표를 독립변수로 넣으면, 모델이 '예측'이 아니라 '계산'만 하게 된다. 원본 재료(raw count)와 계산 결과물(derived metric)을 구분해야 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 — 원본 재료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홈런은 장타율 계산식(루타 = 단타+2×2루타+3×3루타+4×홈런)에 포함되지만, 그 자체로는 OPS가 아닌 '재료'다. 안타·2루타·3루타·볼넷 등도 마찬가지로 OPS를 구성하는 원본 기록이므로 독립변수로 사용한다.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5074920"/>
            <a:ext cx="475488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홈런, 안타, 볼넷, 타점, 득점 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37744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— 계산 결과물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출루율·장타율은 OPS를 만드는 계산의 중간 결과다. OPS = OBP + SLG는 이 두 값을 더하기만 하면 나오므로, 독립변수로 넣으면 모델이 예측이 아니라 사실상 '덧셈'만 하게 된다 — 명백한 데이터 누수.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0" y="5074920"/>
            <a:ext cx="475488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제외: 출루율(OBP), 장타율(SLG)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데이터셋 분할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확인 계획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유형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429000" y="1783080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독립변수는 수치형(비율척도), 종속변수 OPS는 수치형(연속형) — 회귀 문제로 확정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24328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243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확인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29000" y="2624328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컬럼별 결측 여부 및 비율 점검, 결측 처리 방법(제거/대체) 결정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65576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6557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확인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29000" y="3465576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Boxplot으로 각 변수의 이상치 시각 확인 (예: 극단적으로 적은 타석의 선수 등)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06824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0682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분포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429000" y="430682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Histogram으로 각 변수의 분포 형태 확인 — 편포 여부에 따라 변환 필요성 판단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48072"/>
            <a:ext cx="82296" cy="73152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48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 분석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429000" y="5148072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독립변수-종속변수 상관관계 및 독립변수 간 상관관계(다중공선성 사전 점검) 확인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데이터셋 분할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다중공선성(Multicollinearity) 검토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독립변수끼리 지나치게 강한 상관관계를 가지면, 회귀계수 해석이 왜곡될 수 있다. 예측 성능(R² 등)은 유지되더라도 '어떤 변수가 영향을 미쳤는가' 해석에는 치명적이다.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 변수쌍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타석(PA) ↔ 타수(AB) — 타수는 타석에서 볼넷·사구 등을 뺀 값이라 거의 동일하게 움직임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977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안타(H) ↔ 타점(RBI) / 득점(R) — 안타가 많을수록 타점·득점도 함께 증가하는 경향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방법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95160" y="31272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상관계수 행렬  </a:t>
            </a: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간 상관계수 0.8~0.9 이상이면 의심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38130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지수  </a:t>
            </a:r>
            <a:r>
              <a:rPr lang="en-US" sz="12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분산팽창지수 10 초과 시 심각한 다중공선성으로 판단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26280"/>
            <a:ext cx="470916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선형회귀는 다중공선성에 취약하나, Random Forest는 상대적으로 덜 민감함 — 두 모델 비교 시 해석 신뢰도 차이로 고려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데이터셋 분할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분할 및 교차검증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분할 비율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34074"/>
          </a:solidFill>
          <a:ln/>
        </p:spPr>
      </p:sp>
      <p:sp>
        <p:nvSpPr>
          <p:cNvPr id="6" name="Shape 4"/>
          <p:cNvSpPr/>
          <p:nvPr/>
        </p:nvSpPr>
        <p:spPr>
          <a:xfrm>
            <a:off x="4864608" y="2148840"/>
            <a:ext cx="1078992" cy="685800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64608" y="2148840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4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train_test_split(test_size=0.2, random_state=42)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데이터를 5등분하여 4개로 학습, 1개로 검증 — 5회 반복 후 평균 성능 산출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193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모델의 일반화 성능 확인   · 데이터 분할에 따른 성능 편차 감소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구조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33488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0" name="Shape 18"/>
          <p:cNvSpPr/>
          <p:nvPr/>
        </p:nvSpPr>
        <p:spPr>
          <a:xfrm>
            <a:off x="9473184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43032" y="2194560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0" y="219456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333488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403336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3184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3032" y="2761488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0" y="276148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0" name="Shape 28"/>
          <p:cNvSpPr/>
          <p:nvPr/>
        </p:nvSpPr>
        <p:spPr>
          <a:xfrm>
            <a:off x="7333488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1" name="Shape 29"/>
          <p:cNvSpPr/>
          <p:nvPr/>
        </p:nvSpPr>
        <p:spPr>
          <a:xfrm>
            <a:off x="8403336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32" name="Shape 30"/>
          <p:cNvSpPr/>
          <p:nvPr/>
        </p:nvSpPr>
        <p:spPr>
          <a:xfrm>
            <a:off x="9473184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43032" y="3328416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4" name="Text 32"/>
          <p:cNvSpPr/>
          <p:nvPr/>
        </p:nvSpPr>
        <p:spPr>
          <a:xfrm>
            <a:off x="11704320" y="332841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6" name="Shape 34"/>
          <p:cNvSpPr/>
          <p:nvPr/>
        </p:nvSpPr>
        <p:spPr>
          <a:xfrm>
            <a:off x="7333488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7" name="Shape 35"/>
          <p:cNvSpPr/>
          <p:nvPr/>
        </p:nvSpPr>
        <p:spPr>
          <a:xfrm>
            <a:off x="8403336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73184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43032" y="3895344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0" name="Text 38"/>
          <p:cNvSpPr/>
          <p:nvPr/>
        </p:nvSpPr>
        <p:spPr>
          <a:xfrm>
            <a:off x="11704320" y="389534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2" name="Shape 40"/>
          <p:cNvSpPr/>
          <p:nvPr/>
        </p:nvSpPr>
        <p:spPr>
          <a:xfrm>
            <a:off x="7333488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3" name="Shape 41"/>
          <p:cNvSpPr/>
          <p:nvPr/>
        </p:nvSpPr>
        <p:spPr>
          <a:xfrm>
            <a:off x="8403336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4" name="Shape 42"/>
          <p:cNvSpPr/>
          <p:nvPr/>
        </p:nvSpPr>
        <p:spPr>
          <a:xfrm>
            <a:off x="9473184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8DA9C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543032" y="4462272"/>
            <a:ext cx="987552" cy="475488"/>
          </a:xfrm>
          <a:prstGeom prst="roundRect">
            <a:avLst>
              <a:gd name="adj" fmla="val 7692"/>
            </a:avLst>
          </a:prstGeom>
          <a:solidFill>
            <a:srgbClr val="E4572E"/>
          </a:solidFill>
          <a:ln/>
        </p:spPr>
      </p:sp>
      <p:sp>
        <p:nvSpPr>
          <p:cNvPr id="46" name="Text 44"/>
          <p:cNvSpPr/>
          <p:nvPr/>
        </p:nvSpPr>
        <p:spPr>
          <a:xfrm>
            <a:off x="11704320" y="446227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63640" y="5010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 </a:t>
            </a:r>
            <a:r>
              <a:rPr lang="en-US" sz="115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63640" y="580644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E4572E">
              <a:alpha val="12000"/>
            </a:srgbClr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580644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클러스터링(비지도학습)이 아니므로 본 프로젝트에는 Train/Test 분할 및 교차검증이 모두 해당됨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① Linear Regression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114800"/>
          </a:xfrm>
          <a:prstGeom prst="roundRect">
            <a:avLst>
              <a:gd name="adj" fmla="val 2778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선형회귀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743200" cy="0"/>
          </a:xfrm>
          <a:prstGeom prst="line">
            <a:avLst/>
          </a:prstGeom>
          <a:noFill/>
          <a:ln w="12700">
            <a:solidFill>
              <a:srgbClr val="1340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β0 + β1x1 + β2x2 + ... + βnxn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독립변수의 가중치(계수)를 학습하여 종속변수를 선형 결합으로 설명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3317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53288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4414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간 선형 관계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27706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독립변수가 OPS에 미치는 영향을 회귀계수(coefficient)로 직접 확인 가능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5661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76732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해석의 용이성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4005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계수의 부호(+/-)와 크기로 변수별 영향력을 직관적으로 해석 가능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8006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500176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49103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기준(Baseline) 모델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5239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등 복잡한 모델의 성능 향상 여부를 판단하는 비교 기준점 역할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② Random Forest Regressor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114800"/>
          </a:xfrm>
          <a:prstGeom prst="roundRect">
            <a:avLst>
              <a:gd name="adj" fmla="val 2778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랜덤포레스트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03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다수의 결정트리(Decision Tree)를 학습시켜 예측값을 평균 내는 앙상블 기법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53288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4414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관계 학습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7706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변수와 OPS 사이에 단순 직선으로 설명되지 않는 복잡한 관계도 포착 가능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5661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76732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간 상호작용 반영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005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변수가 결합되어 나타나는 복잡한 패턴을 잘 학습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48006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500176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49103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 완화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5239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트리의 예측을 평균 내는 앙상블 구조로 단일 트리보다 과적합에 강함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모델 개발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가설검정 방법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H0/H1 판정을 위해서는 예측 성능 지표(R² 등)와 별도로, 통계적 유의성을 검정하는 절차가 필요하다.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F-검정 (모델 전체 유의성)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전체가 OPS 설명에 유의한 기여를 하는지 검정. F-통계량의 p-value &lt; 0.05이면 H0 기각 (모델 전체가 유의함).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2976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statsmodels.api as sm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 = sm.add_constant(X_train)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sm.OLS(y_train, X_c).fit()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print(model.summary())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t-검정 (개별 변수 유의성)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독립변수의 회귀계수가 0과 유의하게 다른지 개별 검정. 변수별 p-value &lt; 0.05이면 그 변수는 OPS에 유의한 영향을 미친다고 판단.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20624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2976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model.summary() 출력 내 각 변수 행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   std err   t   P&gt;|t|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P&gt;|t| 값이 판정 기준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성능 평가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 지표 및 모델 비교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절대 오차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예측값과 실제값 차이의 절댓값 평균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제곱근 오차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 제곱의 평균에 제곱근 — 큰 오차에 민감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종속변수 분산을 설명하는 비율 (0~1)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비교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749040" y="42062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73368" y="42062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97696" y="420624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09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49040" y="470916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73368" y="470916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97696" y="4709160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594360"/>
          </a:xfrm>
          <a:prstGeom prst="rect">
            <a:avLst/>
          </a:prstGeom>
          <a:solidFill>
            <a:srgbClr val="F5F7FA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49040" y="530352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73368" y="5303520"/>
            <a:ext cx="2624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97696" y="5303520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후 입력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성능 평가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변수 중요도 분석 계획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목적에서 제시한 '어떤 기록이 OPS에 가장 큰 영향을 미치는가'를 확인하기 위해, 두 모델에서 각각 다른 방식으로 변수 영향력을 해석한다.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 — 회귀계수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변수의 coefficient 크기와 부호로 해석. 계수가 클수록 OPS에 미치는 영향이 크고, 부호는 방향(+/-)을 나타낸다.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475488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224528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model.coef_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변수별 계수 배열 반환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※ 단, 다중공선성이 있으면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계수 해석이 왜곡될 수 있음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변수 중요도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속성으로 각 변수가 트리 분기에서 예측 오차 감소에 기여한 정도를 확인.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114800"/>
            <a:ext cx="484632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224528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importances = rf_model.feature_importances_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imp in sorted(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zip(X.columns, importances),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key=lambda x: -x[1]):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print(name, imp)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성능 평가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해석 프레임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아래는 실험 후 채워 넣을 해석 구조다. 실제 수치가 나온 뒤, 어느 모델이 더 우수한지와 그 이유를 근거와 함께 작성한다.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3230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모델(Linear Regression, Random Forest) 중 어느 쪽이 더 높은 R²를 기록했는가 — [실험 후 입력]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954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06324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MAE·RMSE 기준으로 예측 오차가 더 작은 모델은 무엇인가 — [실험 후 입력]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차이가 선형/비선형 관계 중 어느 쪽으로 설명되는가 — [실험 후 입력]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76402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64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61772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상위 변수와 회귀계수 상위 변수가 일치하는가 — [실험 후 입력]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54126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541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539496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가설검정(F-검정, t-검정) 결과 H0 기각 여부 — [실험 후 입력]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548640" y="5799911"/>
            <a:ext cx="11064240" cy="904670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  <p:txBody>
          <a:bodyPr anchor="ctr" anchorCtr="1"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548639" y="3604772"/>
            <a:ext cx="11064240" cy="1001562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  <p:txBody>
          <a:bodyPr anchor="ctr" anchorCtr="1"/>
          <a:lstStyle/>
          <a:p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팀원별 담당 역할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 분담 및 소감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50338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73"/>
            <a:ext cx="835543" cy="650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702964" y="1483173"/>
            <a:ext cx="3957864" cy="650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파트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0" y="1483173"/>
            <a:ext cx="4572000" cy="650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1" y="2214692"/>
            <a:ext cx="11064240" cy="1250296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  <p:txBody>
          <a:bodyPr anchor="ctr" anchorCtr="1"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37" y="2207459"/>
            <a:ext cx="882531" cy="1229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12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565946" y="2223898"/>
            <a:ext cx="3828090" cy="124668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주제 선정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데이터셋 조사 및 수집 방법 논의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분석 목적 및 가설 설정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변수 선정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가설 오류 및 변수 간 종속성 검토 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예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: OPS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와 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OBP·SLG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관계 확인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),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분석 방향 및 모델 선정에 대한 팀 회의와 의견 조율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72728" y="2223897"/>
            <a:ext cx="5702993" cy="1229097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첫 회의 당시 구성원 간 관심사 차이로 주제 선정에 어려움이 있었다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초기에는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'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안타 수와 홈런 수의 비례 관계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'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를 주제로 채택했으나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데이터 분석에 대한 이해가 깊어지면서 해당 주제는 단순 통계 분석에는 적합하지만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</a:rPr>
              <a:t>머신러닝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 기반 미래 예측 모델이라는 본래 목적에는 어울리지 않는다고 판단하여 팀원의 의견을 조율하여 현재의 주제로 변경하였다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 (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주제 수정 전 진행하였던  </a:t>
            </a:r>
            <a:r>
              <a:rPr lang="en-US" altLang="ko-KR" sz="1200" dirty="0" err="1">
                <a:solidFill>
                  <a:schemeClr val="bg1">
                    <a:lumMod val="95000"/>
                  </a:schemeClr>
                </a:solidFill>
              </a:rPr>
              <a:t>ipynb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파일 첨부 함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39" y="4749683"/>
            <a:ext cx="11064240" cy="916042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8DA9C4"/>
            </a:solidFill>
            <a:prstDash val="solid"/>
          </a:ln>
        </p:spPr>
        <p:txBody>
          <a:bodyPr anchor="ctr" anchorCtr="1"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37" y="3621754"/>
            <a:ext cx="882531" cy="97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cs typeface="Calibri" pitchFamily="34" charset="-120"/>
              </a:rPr>
              <a:t>김동욱</a:t>
            </a:r>
            <a:endParaRPr lang="en-US" sz="1200" b="1" dirty="0">
              <a:solidFill>
                <a:schemeClr val="bg2">
                  <a:lumMod val="9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65946" y="3613705"/>
            <a:ext cx="3828090" cy="984023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 수집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EDA(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탐색적 데이터 분석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),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 </a:t>
            </a:r>
            <a:r>
              <a:rPr lang="ko-KR" altLang="en-US" sz="1200" dirty="0" err="1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전처리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 err="1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결측치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·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이상치 확인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변수 확인 및 데이터 분포 분석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72729" y="3592778"/>
            <a:ext cx="5702992" cy="1022719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프로젝트 초기 야구에 대한 도메인 지식의 부족으로 소극적이었으나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주제가 확정된 이후에는 데이터 수집과 학습에 매우 적극적으로 임하며 빠르게 팀의 지식 기반을 넓혔다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나아가 프로젝트의 완성도를 높이고자 다양한 관점을 지속적으로 제시하였고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</a:rPr>
              <a:t>팀원들과의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 타당성 검토를 거쳐 프로젝트 범위를 명확히 정립하는 데 기여하였다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37" y="4749683"/>
            <a:ext cx="835545" cy="90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 err="1">
                <a:solidFill>
                  <a:schemeClr val="bg2">
                    <a:lumMod val="90000"/>
                  </a:schemeClr>
                </a:solidFill>
                <a:latin typeface="Calibri" pitchFamily="34" charset="0"/>
                <a:cs typeface="Calibri" pitchFamily="34" charset="-120"/>
              </a:rPr>
              <a:t>김수완</a:t>
            </a:r>
            <a:endParaRPr lang="en-US" sz="1200" b="1" dirty="0">
              <a:solidFill>
                <a:schemeClr val="bg2">
                  <a:lumMod val="9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65946" y="4758880"/>
            <a:ext cx="3828090" cy="906845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 err="1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머신러닝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 모델 개발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선형회귀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Random Forest Regressor), Train/Test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데이터 분할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교차검증 수행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모델 성능 평가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(MAE, RMSE, R²)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및 결과 비교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72729" y="4748947"/>
            <a:ext cx="5702992" cy="90467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팀 내에서 프로그램 이해도가 가장 높은 팀원이다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주제 선정 과정에서는 초기에 다소 조급함을 보이기도 했으나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본인의 의견을 강하게 주장하기보다는 팀에서 조율된 의견을 존중하고 이에 맞춰 프로그램을 유연하게 수정해 나갔다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타인의 의견을 적극적으로 수용하고 협력하는 태도가 뛰어난 팀원이다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37" y="5811211"/>
            <a:ext cx="835545" cy="89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cs typeface="Calibri" pitchFamily="34" charset="-120"/>
              </a:rPr>
              <a:t>홍은경</a:t>
            </a:r>
            <a:endParaRPr lang="en-US" sz="1200" b="1" dirty="0">
              <a:solidFill>
                <a:schemeClr val="bg2">
                  <a:lumMod val="9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65946" y="5809074"/>
            <a:ext cx="3828090" cy="895507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just">
              <a:buNone/>
            </a:pP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프로젝트 일정 관리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PPT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제작 및 발표 자료 구성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분석 결과 시각화 정리</a:t>
            </a:r>
            <a:r>
              <a:rPr lang="en-US" altLang="ko-KR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8DA9C4"/>
                </a:solidFill>
                <a:latin typeface="Calibri" pitchFamily="34" charset="0"/>
                <a:cs typeface="Calibri" pitchFamily="34" charset="-120"/>
              </a:rPr>
              <a:t>발표 및 최종 보고 내용 작성</a:t>
            </a:r>
            <a:endParaRPr lang="en-US" sz="1200" dirty="0">
              <a:solidFill>
                <a:srgbClr val="8DA9C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72729" y="5796966"/>
            <a:ext cx="5702992" cy="916042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E86AC-0E1D-4EE3-9889-55FFA3C1CAFB}"/>
              </a:ext>
            </a:extLst>
          </p:cNvPr>
          <p:cNvSpPr txBox="1"/>
          <p:nvPr/>
        </p:nvSpPr>
        <p:spPr>
          <a:xfrm rot="10800000" flipV="1">
            <a:off x="5660826" y="5839346"/>
            <a:ext cx="5814894" cy="8955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자신의 의견과 주관이 명확하여 자칫 소통에 어려움이 있을까 우려했으나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독단적인 주장 대신 부족한 부분은 팀원들에게 솔직히 조언을 구하거나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AI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도구를 활용해 적극적으로 보완하였고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팀의 합의점에 맞춰 의견을 유연하게 조율해 나가려 노력하였다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1914</Words>
  <Application>Microsoft Office PowerPoint</Application>
  <PresentationFormat>와이드스크린</PresentationFormat>
  <Paragraphs>262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맑은 고딕</vt:lpstr>
      <vt:lpstr>Arial</vt:lpstr>
      <vt:lpstr>Calibri</vt:lpstr>
      <vt:lpstr>Cambria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18</cp:revision>
  <dcterms:created xsi:type="dcterms:W3CDTF">2026-08-04T02:08:31Z</dcterms:created>
  <dcterms:modified xsi:type="dcterms:W3CDTF">2026-08-04T05:25:18Z</dcterms:modified>
</cp:coreProperties>
</file>